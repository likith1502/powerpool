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PowerPool addresses Challenge 03 by coordinating residential load flexibility to support grid reliability. We model a simulated 170 kW low-voltage distribution transformer facing evening solar drop-off and peak residential demand surges.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Low-voltage distribution transformers face peak thermal stress when solar generation collapses at sunset just as residential evening demand surges. On our simulated 170 kW feeder, unmanaged demand exceeds capacity, highlighting the need for coordinated load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PowerPool integrates three components: predictive demand forecasting with LightGBM, a two-stage optimization engine, and a multi-lingual resident portal, backed by a FastAPI service and SQLite database.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our forecasting model under two distinct operational conditions. For 24-hour day-ahead planning with zero future data, recursive LightGBM achieves a 2.42 kW MAE, an approximately 14.8% error reduction over the seasonal baseline, with a peak forecast error of 3.47 kW versus 10.01 kW. For 15-minute rolling updates with incoming telemetry, the one-step MAE is 2.10 kW. These represent separate forecasting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primary live application with 80 registered households, Stage 1 optimization schedules 27 shifts moving 121.50 kWh into solar hours, resulting in approximately 79.0 kWh realized under our 65% compliance model. Peak demand is reduced from 196.0 kW to 155.5 kW—a 20.7% reduction that brings the simulated feeder within its 170 kW threshold without creating rebound peaks.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is an analytic emergency curtailment model with an assumed 120 kW maximum, not a physical hardware control system. In our extreme heatwave stress test, voluntary shifts leave a 132.52 kW overload. Even with 120 kW of modeled emergency curtailment, a 12.52 kW residual overload remains. PowerPool reports these physical boundaries honestly.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Resident participation is driven by transparent incentives. We deliver nudges in English, Hindi, or Telugu. Estimated bill savings are calculated using a modeled Rs 3.00/kWh Time-of-Day tariff differential between peak and solar off-peak rates. Nudge acceptances award points on the community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maintain strict provenance across three separate configurations: our live 80-household application, the 100-household profile used for ML training and scenario evaluation (yielding 121.5 kWh scheduled on Sunny, 416.3 kWh on Cloudy, and 425.8 kWh on Heatwave), and our standalone CLI runner. We do not blend metrics across these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test suite of 197 automated tests passed in 35 seconds across all functional modules. The production database maintained structural integrity with zero row modifications during audit testing, confirmed by SQLite integrity checks.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PowerPool demonstrates that predictive, coordinated residential load flexibility can effectively mitigate distribution transformer overload. While our current implementation is a software prototype ready for demonstration, we have identified a clear roadmap for real-world utility integration.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657600"/>
          </a:xfrm>
          <a:prstGeom prst="rect">
            <a:avLst/>
          </a:prstGeom>
          <a:noFill/>
        </p:spPr>
        <p:txBody>
          <a:bodyPr wrap="square">
            <a:spAutoFit/>
          </a:bodyPr>
          <a:lstStyle/>
          <a:p>
            <a:pPr>
              <a:spcAft>
                <a:spcPts val="1000"/>
              </a:spcAft>
              <a:defRPr sz="4800" b="1">
                <a:solidFill>
                  <a:srgbClr val="10B981"/>
                </a:solidFill>
              </a:defRPr>
            </a:pPr>
            <a:r>
              <a:t>POWERPOOL</a:t>
            </a:r>
          </a:p>
          <a:p>
            <a:pPr>
              <a:spcAft>
                <a:spcPts val="2000"/>
              </a:spcAft>
              <a:defRPr sz="2400" b="1">
                <a:solidFill>
                  <a:srgbClr val="F8FAFC"/>
                </a:solidFill>
              </a:defRPr>
            </a:pPr>
            <a:r>
              <a:t>Neighbourhood-Scale Residential Load Flexibility for Distribution Grid Reliability</a:t>
            </a:r>
          </a:p>
          <a:p>
            <a:pPr>
              <a:defRPr sz="1400">
                <a:solidFill>
                  <a:srgbClr val="94A3B8"/>
                </a:solidFill>
              </a:defRPr>
            </a:pPr>
            <a:r>
              <a:t>Yuva Yodha Energy Tech Hackathon 2026 • Challenge 03: Grid Reliability</a:t>
            </a:r>
            <a:br/>
            <a:r>
              <a:t>Simulated 170 kW Low-Voltage Distribution Feeder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The Grid Reliability Challenge: Distribution Transformer Overload</a:t>
            </a:r>
          </a:p>
        </p:txBody>
      </p:sp>
      <p:sp>
        <p:nvSpPr>
          <p:cNvPr id="5" name="Rounded Rectangle 4"/>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023360"/>
          </a:xfrm>
          <a:prstGeom prst="rect">
            <a:avLst/>
          </a:prstGeom>
          <a:noFill/>
        </p:spPr>
        <p:txBody>
          <a:bodyPr wrap="square">
            <a:spAutoFit/>
          </a:bodyPr>
          <a:lstStyle/>
          <a:p>
            <a:pPr>
              <a:spcAft>
                <a:spcPts val="800"/>
              </a:spcAft>
              <a:defRPr sz="1600" b="1">
                <a:solidFill>
                  <a:srgbClr val="F59E0B"/>
                </a:solidFill>
              </a:defRPr>
            </a:pPr>
            <a:r>
              <a:t>1. The Evening Solar Cliff</a:t>
            </a:r>
          </a:p>
          <a:p>
            <a:pPr>
              <a:spcAft>
                <a:spcPts val="400"/>
              </a:spcAft>
              <a:defRPr sz="1150">
                <a:solidFill>
                  <a:srgbClr val="F8FAFC"/>
                </a:solidFill>
              </a:defRPr>
            </a:pPr>
            <a:r>
              <a:t>Solar generation drops to 0 kW between 17:30 and 18:30.</a:t>
            </a:r>
          </a:p>
          <a:p>
            <a:pPr>
              <a:spcAft>
                <a:spcPts val="400"/>
              </a:spcAft>
              <a:defRPr sz="1150">
                <a:solidFill>
                  <a:srgbClr val="F8FAFC"/>
                </a:solidFill>
              </a:defRPr>
            </a:pPr>
            <a:r>
              <a:t>Simultaneous surge in cooking, water heating, cooling, and vehicle charging.</a:t>
            </a:r>
          </a:p>
          <a:p>
            <a:pPr>
              <a:spcAft>
                <a:spcPts val="400"/>
              </a:spcAft>
              <a:defRPr sz="1150">
                <a:solidFill>
                  <a:srgbClr val="F8FAFC"/>
                </a:solidFill>
              </a:defRPr>
            </a:pPr>
            <a:r>
              <a:t>Creates a sharp net-demand ramp on the local substation.</a:t>
            </a:r>
          </a:p>
        </p:txBody>
      </p:sp>
      <p:sp>
        <p:nvSpPr>
          <p:cNvPr id="7" name="Rounded Rectangle 6"/>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023360"/>
          </a:xfrm>
          <a:prstGeom prst="rect">
            <a:avLst/>
          </a:prstGeom>
          <a:noFill/>
        </p:spPr>
        <p:txBody>
          <a:bodyPr wrap="square">
            <a:spAutoFit/>
          </a:bodyPr>
          <a:lstStyle/>
          <a:p>
            <a:pPr>
              <a:spcAft>
                <a:spcPts val="800"/>
              </a:spcAft>
              <a:defRPr sz="1600" b="1">
                <a:solidFill>
                  <a:srgbClr val="06B6D4"/>
                </a:solidFill>
              </a:defRPr>
            </a:pPr>
            <a:r>
              <a:t>2. Transformer Thermal Strain</a:t>
            </a:r>
          </a:p>
          <a:p>
            <a:pPr>
              <a:spcAft>
                <a:spcPts val="400"/>
              </a:spcAft>
              <a:defRPr sz="1150">
                <a:solidFill>
                  <a:srgbClr val="F8FAFC"/>
                </a:solidFill>
              </a:defRPr>
            </a:pPr>
            <a:r>
              <a:t>Assumed Simulated Feeder Capacity: 170.0 kW.</a:t>
            </a:r>
          </a:p>
          <a:p>
            <a:pPr>
              <a:spcAft>
                <a:spcPts val="400"/>
              </a:spcAft>
              <a:defRPr sz="1150">
                <a:solidFill>
                  <a:srgbClr val="F8FAFC"/>
                </a:solidFill>
              </a:defRPr>
            </a:pPr>
            <a:r>
              <a:t>Typical Baseline Peak: ~196.00 kW (approx 26 kW overload).</a:t>
            </a:r>
          </a:p>
          <a:p>
            <a:pPr>
              <a:spcAft>
                <a:spcPts val="400"/>
              </a:spcAft>
              <a:defRPr sz="1150">
                <a:solidFill>
                  <a:srgbClr val="F8FAFC"/>
                </a:solidFill>
              </a:defRPr>
            </a:pPr>
            <a:r>
              <a:t>Heatwave Extreme Peak: 388.91 kW (severe 218 kW overload).</a:t>
            </a:r>
          </a:p>
          <a:p>
            <a:pPr>
              <a:spcAft>
                <a:spcPts val="400"/>
              </a:spcAft>
              <a:defRPr sz="1150">
                <a:solidFill>
                  <a:srgbClr val="F8FAFC"/>
                </a:solidFill>
              </a:defRPr>
            </a:pPr>
            <a:r>
              <a:t>Risk of accelerated thermal aging, insulation degradation, and tripping.</a:t>
            </a:r>
          </a:p>
        </p:txBody>
      </p:sp>
      <p:sp>
        <p:nvSpPr>
          <p:cNvPr id="9" name="Rounded Rectangle 8"/>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2926080" cy="4023360"/>
          </a:xfrm>
          <a:prstGeom prst="rect">
            <a:avLst/>
          </a:prstGeom>
          <a:noFill/>
        </p:spPr>
        <p:txBody>
          <a:bodyPr wrap="square">
            <a:spAutoFit/>
          </a:bodyPr>
          <a:lstStyle/>
          <a:p>
            <a:pPr>
              <a:spcAft>
                <a:spcPts val="800"/>
              </a:spcAft>
              <a:defRPr sz="1600" b="1">
                <a:solidFill>
                  <a:srgbClr val="10B981"/>
                </a:solidFill>
              </a:defRPr>
            </a:pPr>
            <a:r>
              <a:t>3. The Need for Load Flexibility</a:t>
            </a:r>
          </a:p>
          <a:p>
            <a:pPr>
              <a:spcAft>
                <a:spcPts val="400"/>
              </a:spcAft>
              <a:defRPr sz="1150">
                <a:solidFill>
                  <a:srgbClr val="F8FAFC"/>
                </a:solidFill>
              </a:defRPr>
            </a:pPr>
            <a:r>
              <a:t>Traditional remedies: Costly transformer upgrades or diesel peakers.</a:t>
            </a:r>
          </a:p>
          <a:p>
            <a:pPr>
              <a:spcAft>
                <a:spcPts val="400"/>
              </a:spcAft>
              <a:defRPr sz="1150">
                <a:solidFill>
                  <a:srgbClr val="F8FAFC"/>
                </a:solidFill>
              </a:defRPr>
            </a:pPr>
            <a:r>
              <a:t>Consumer impact: Unscheduled supply interruptions during peak hours.</a:t>
            </a:r>
          </a:p>
          <a:p>
            <a:pPr>
              <a:spcAft>
                <a:spcPts val="400"/>
              </a:spcAft>
              <a:defRPr sz="1150">
                <a:solidFill>
                  <a:srgbClr val="F8FAFC"/>
                </a:solidFill>
              </a:defRPr>
            </a:pPr>
            <a:r>
              <a:t>Opportunity: Shift flexible household cycles into midday solar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System Architecture: End-to-End Predictive Flexibility</a:t>
            </a:r>
          </a:p>
        </p:txBody>
      </p:sp>
      <p:sp>
        <p:nvSpPr>
          <p:cNvPr id="5" name="Rounded Rectangle 4"/>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023360"/>
          </a:xfrm>
          <a:prstGeom prst="rect">
            <a:avLst/>
          </a:prstGeom>
          <a:noFill/>
        </p:spPr>
        <p:txBody>
          <a:bodyPr wrap="square">
            <a:spAutoFit/>
          </a:bodyPr>
          <a:lstStyle/>
          <a:p>
            <a:pPr>
              <a:spcAft>
                <a:spcPts val="800"/>
              </a:spcAft>
              <a:defRPr sz="1600" b="1">
                <a:solidFill>
                  <a:srgbClr val="06B6D4"/>
                </a:solidFill>
              </a:defRPr>
            </a:pPr>
            <a:r>
              <a:t>Data &amp; Forecast Engine</a:t>
            </a:r>
          </a:p>
          <a:p>
            <a:pPr>
              <a:spcAft>
                <a:spcPts val="400"/>
              </a:spcAft>
              <a:defRPr sz="1150">
                <a:solidFill>
                  <a:srgbClr val="F8FAFC"/>
                </a:solidFill>
              </a:defRPr>
            </a:pPr>
            <a:r>
              <a:t>30-day 15-minute load history telemetry (288,000 intervals).</a:t>
            </a:r>
          </a:p>
          <a:p>
            <a:pPr>
              <a:spcAft>
                <a:spcPts val="400"/>
              </a:spcAft>
              <a:defRPr sz="1150">
                <a:solidFill>
                  <a:srgbClr val="F8FAFC"/>
                </a:solidFill>
              </a:defRPr>
            </a:pPr>
            <a:r>
              <a:t>Open-Meteo weather integration (temperature, cloud cover, irradiance).</a:t>
            </a:r>
          </a:p>
          <a:p>
            <a:pPr>
              <a:spcAft>
                <a:spcPts val="400"/>
              </a:spcAft>
              <a:defRPr sz="1150">
                <a:solidFill>
                  <a:srgbClr val="F8FAFC"/>
                </a:solidFill>
              </a:defRPr>
            </a:pPr>
            <a:r>
              <a:t>150-tree LightGBM predictive model.</a:t>
            </a:r>
          </a:p>
          <a:p>
            <a:pPr>
              <a:spcAft>
                <a:spcPts val="400"/>
              </a:spcAft>
              <a:defRPr sz="1150">
                <a:solidFill>
                  <a:srgbClr val="F8FAFC"/>
                </a:solidFill>
              </a:defRPr>
            </a:pPr>
            <a:r>
              <a:t>Transparent dual-horizon accuracy assessment.</a:t>
            </a:r>
          </a:p>
        </p:txBody>
      </p:sp>
      <p:sp>
        <p:nvSpPr>
          <p:cNvPr id="7" name="Rounded Rectangle 6"/>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023360"/>
          </a:xfrm>
          <a:prstGeom prst="rect">
            <a:avLst/>
          </a:prstGeom>
          <a:noFill/>
        </p:spPr>
        <p:txBody>
          <a:bodyPr wrap="square">
            <a:spAutoFit/>
          </a:bodyPr>
          <a:lstStyle/>
          <a:p>
            <a:pPr>
              <a:spcAft>
                <a:spcPts val="800"/>
              </a:spcAft>
              <a:defRPr sz="1600" b="1">
                <a:solidFill>
                  <a:srgbClr val="10B981"/>
                </a:solidFill>
              </a:defRPr>
            </a:pPr>
            <a:r>
              <a:t>Two-Stage Optimization Engine</a:t>
            </a:r>
          </a:p>
          <a:p>
            <a:pPr>
              <a:spcAft>
                <a:spcPts val="400"/>
              </a:spcAft>
              <a:defRPr sz="1150">
                <a:solidFill>
                  <a:srgbClr val="F8FAFC"/>
                </a:solidFill>
              </a:defRPr>
            </a:pPr>
            <a:r>
              <a:t>Stage 1: Capacity-aware voluntary shift optimizer.</a:t>
            </a:r>
          </a:p>
          <a:p>
            <a:pPr>
              <a:spcAft>
                <a:spcPts val="400"/>
              </a:spcAft>
              <a:defRPr sz="1150">
                <a:solidFill>
                  <a:srgbClr val="F8FAFC"/>
                </a:solidFill>
              </a:defRPr>
            </a:pPr>
            <a:r>
              <a:t>Enforces appliance time windows &amp; exact energy conservation.</a:t>
            </a:r>
          </a:p>
          <a:p>
            <a:pPr>
              <a:spcAft>
                <a:spcPts val="400"/>
              </a:spcAft>
              <a:defRPr sz="1150">
                <a:solidFill>
                  <a:srgbClr val="F8FAFC"/>
                </a:solidFill>
              </a:defRPr>
            </a:pPr>
            <a:r>
              <a:t>Destination-block checks prevent midday rebound peaks.</a:t>
            </a:r>
          </a:p>
          <a:p>
            <a:pPr>
              <a:spcAft>
                <a:spcPts val="400"/>
              </a:spcAft>
              <a:defRPr sz="1150">
                <a:solidFill>
                  <a:srgbClr val="F8FAFC"/>
                </a:solidFill>
              </a:defRPr>
            </a:pPr>
            <a:r>
              <a:t>Stage 2: Mathematical simulation of aggregate emergency curtailment.</a:t>
            </a:r>
          </a:p>
        </p:txBody>
      </p:sp>
      <p:sp>
        <p:nvSpPr>
          <p:cNvPr id="9" name="Rounded Rectangle 8"/>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2926080" cy="4023360"/>
          </a:xfrm>
          <a:prstGeom prst="rect">
            <a:avLst/>
          </a:prstGeom>
          <a:noFill/>
        </p:spPr>
        <p:txBody>
          <a:bodyPr wrap="square">
            <a:spAutoFit/>
          </a:bodyPr>
          <a:lstStyle/>
          <a:p>
            <a:pPr>
              <a:spcAft>
                <a:spcPts val="800"/>
              </a:spcAft>
              <a:defRPr sz="1600" b="1">
                <a:solidFill>
                  <a:srgbClr val="F59E0B"/>
                </a:solidFill>
              </a:defRPr>
            </a:pPr>
            <a:r>
              <a:t>DISCOM &amp; Resident Interfaces</a:t>
            </a:r>
          </a:p>
          <a:p>
            <a:pPr>
              <a:spcAft>
                <a:spcPts val="400"/>
              </a:spcAft>
              <a:defRPr sz="1150">
                <a:solidFill>
                  <a:srgbClr val="F8FAFC"/>
                </a:solidFill>
              </a:defRPr>
            </a:pPr>
            <a:r>
              <a:t>Streamlit Command Center with live ML inference toggle.</a:t>
            </a:r>
          </a:p>
          <a:p>
            <a:pPr>
              <a:spcAft>
                <a:spcPts val="400"/>
              </a:spcAft>
              <a:defRPr sz="1150">
                <a:solidFill>
                  <a:srgbClr val="F8FAFC"/>
                </a:solidFill>
              </a:defRPr>
            </a:pPr>
            <a:r>
              <a:t>Automated Feasibility Status badge &amp; bottleneck diagnosis.</a:t>
            </a:r>
          </a:p>
          <a:p>
            <a:pPr>
              <a:spcAft>
                <a:spcPts val="400"/>
              </a:spcAft>
              <a:defRPr sz="1150">
                <a:solidFill>
                  <a:srgbClr val="F8FAFC"/>
                </a:solidFill>
              </a:defRPr>
            </a:pPr>
            <a:r>
              <a:t>Resident Portal with English, Hindi, and Telugu nudges.</a:t>
            </a:r>
          </a:p>
          <a:p>
            <a:pPr>
              <a:spcAft>
                <a:spcPts val="400"/>
              </a:spcAft>
              <a:defRPr sz="1150">
                <a:solidFill>
                  <a:srgbClr val="F8FAFC"/>
                </a:solidFill>
              </a:defRPr>
            </a:pPr>
            <a:r>
              <a:t>Estimated Time-of-Day tariff savings calculation &amp; rewards.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AI Demand Forecasting: Evaluating Two Distinct Operational Horizons</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06B6D4"/>
                </a:solidFill>
              </a:defRPr>
            </a:pPr>
            <a:r>
              <a:t>Recursive Day-Ahead Planning (24-Hour Horizon)</a:t>
            </a:r>
          </a:p>
          <a:p>
            <a:pPr>
              <a:spcAft>
                <a:spcPts val="400"/>
              </a:spcAft>
              <a:defRPr sz="1150">
                <a:solidFill>
                  <a:srgbClr val="F8FAFC"/>
                </a:solidFill>
              </a:defRPr>
            </a:pPr>
            <a:r>
              <a:t>Operational Scope: Day-ahead scheduling (00:00–23:45).</a:t>
            </a:r>
          </a:p>
          <a:p>
            <a:pPr>
              <a:spcAft>
                <a:spcPts val="400"/>
              </a:spcAft>
              <a:defRPr sz="1150">
                <a:solidFill>
                  <a:srgbClr val="F8FAFC"/>
                </a:solidFill>
              </a:defRPr>
            </a:pPr>
            <a:r>
              <a:t>Evaluation: True recursive inference (zero intra-day observations).</a:t>
            </a:r>
          </a:p>
          <a:p>
            <a:pPr>
              <a:spcAft>
                <a:spcPts val="400"/>
              </a:spcAft>
              <a:defRPr sz="1150">
                <a:solidFill>
                  <a:srgbClr val="F8FAFC"/>
                </a:solidFill>
              </a:defRPr>
            </a:pPr>
            <a:r>
              <a:t>Key Features: lag_96, lag_192, calendar variables, forecast weather.</a:t>
            </a:r>
          </a:p>
          <a:p>
            <a:pPr>
              <a:spcAft>
                <a:spcPts val="400"/>
              </a:spcAft>
              <a:defRPr sz="1150">
                <a:solidFill>
                  <a:srgbClr val="F8FAFC"/>
                </a:solidFill>
              </a:defRPr>
            </a:pPr>
            <a:r>
              <a:t>LightGBM MAE: 2.42 kW (RMSE: 3.23 kW, MAPE: 3.24%).</a:t>
            </a:r>
          </a:p>
          <a:p>
            <a:pPr>
              <a:spcAft>
                <a:spcPts val="400"/>
              </a:spcAft>
              <a:defRPr sz="1150">
                <a:solidFill>
                  <a:srgbClr val="F8FAFC"/>
                </a:solidFill>
              </a:defRPr>
            </a:pPr>
            <a:r>
              <a:t>Seasonal Baseline MAE: 2.84 kW (RMSE: 4.24 kW, MAPE: 3.21%).</a:t>
            </a:r>
          </a:p>
          <a:p>
            <a:pPr>
              <a:spcAft>
                <a:spcPts val="400"/>
              </a:spcAft>
              <a:defRPr sz="1150">
                <a:solidFill>
                  <a:srgbClr val="F8FAFC"/>
                </a:solidFill>
              </a:defRPr>
            </a:pPr>
            <a:r>
              <a:t>Error Reduction: ~14.8% improvement over seasonal baseline.</a:t>
            </a:r>
          </a:p>
          <a:p>
            <a:pPr>
              <a:spcAft>
                <a:spcPts val="400"/>
              </a:spcAft>
              <a:defRPr sz="1150">
                <a:solidFill>
                  <a:srgbClr val="F8FAFC"/>
                </a:solidFill>
              </a:defRPr>
            </a:pPr>
            <a:r>
              <a:t>Peak Forecast Error: 3.47 kW vs 10.01 kW for seasonal baseline.</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10B981"/>
                </a:solidFill>
              </a:defRPr>
            </a:pPr>
            <a:r>
              <a:t>Intraday Rolling Dispatch (15-Minute Horizon)</a:t>
            </a:r>
          </a:p>
          <a:p>
            <a:pPr>
              <a:spcAft>
                <a:spcPts val="400"/>
              </a:spcAft>
              <a:defRPr sz="1150">
                <a:solidFill>
                  <a:srgbClr val="F8FAFC"/>
                </a:solidFill>
              </a:defRPr>
            </a:pPr>
            <a:r>
              <a:t>Operational Scope: Real-time grid balancing &amp; intraday re-dispatch.</a:t>
            </a:r>
          </a:p>
          <a:p>
            <a:pPr>
              <a:spcAft>
                <a:spcPts val="400"/>
              </a:spcAft>
              <a:defRPr sz="1150">
                <a:solidFill>
                  <a:srgbClr val="F8FAFC"/>
                </a:solidFill>
              </a:defRPr>
            </a:pPr>
            <a:r>
              <a:t>Evaluation: 1-step-ahead rolling inference using recent observed demand.</a:t>
            </a:r>
          </a:p>
          <a:p>
            <a:pPr>
              <a:spcAft>
                <a:spcPts val="400"/>
              </a:spcAft>
              <a:defRPr sz="1150">
                <a:solidFill>
                  <a:srgbClr val="F8FAFC"/>
                </a:solidFill>
              </a:defRPr>
            </a:pPr>
            <a:r>
              <a:t>Features: Incorporates recently observed lag_1 &amp; lag_4 demand.</a:t>
            </a:r>
          </a:p>
          <a:p>
            <a:pPr>
              <a:spcAft>
                <a:spcPts val="400"/>
              </a:spcAft>
              <a:defRPr sz="1150">
                <a:solidFill>
                  <a:srgbClr val="F8FAFC"/>
                </a:solidFill>
              </a:defRPr>
            </a:pPr>
            <a:r>
              <a:t>LightGBM MAE: 2.10 kW (RMSE: 2.90 kW, MAPE: 2.77%).</a:t>
            </a:r>
          </a:p>
          <a:p>
            <a:pPr>
              <a:spcAft>
                <a:spcPts val="400"/>
              </a:spcAft>
              <a:defRPr sz="1150">
                <a:solidFill>
                  <a:srgbClr val="F8FAFC"/>
                </a:solidFill>
              </a:defRPr>
            </a:pPr>
            <a:r>
              <a:t>Seasonal Baseline MAE: 2.84 kW.</a:t>
            </a:r>
          </a:p>
          <a:p>
            <a:pPr>
              <a:spcAft>
                <a:spcPts val="400"/>
              </a:spcAft>
              <a:defRPr sz="1150">
                <a:solidFill>
                  <a:srgbClr val="F8FAFC"/>
                </a:solidFill>
              </a:defRPr>
            </a:pPr>
            <a:r>
              <a:t>Error Reduction: 26.1% lower MAE under rolling telemetry updates.</a:t>
            </a:r>
          </a:p>
          <a:p>
            <a:pPr>
              <a:spcAft>
                <a:spcPts val="400"/>
              </a:spcAft>
              <a:defRPr sz="1150">
                <a:solidFill>
                  <a:srgbClr val="F8FAFC"/>
                </a:solidFill>
              </a:defRPr>
            </a:pPr>
            <a:r>
              <a:t>Critical Distinction: Rolling performance requires recent telemetry and is not day-ahead planning.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Stage 1: Capacity-Aware Voluntary Load Shifting</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10B981"/>
                </a:solidFill>
              </a:defRPr>
            </a:pPr>
            <a:r>
              <a:t>Mathematical Principles &amp; Constraints</a:t>
            </a:r>
          </a:p>
          <a:p>
            <a:pPr>
              <a:spcAft>
                <a:spcPts val="400"/>
              </a:spcAft>
              <a:defRPr sz="1150">
                <a:solidFill>
                  <a:srgbClr val="F8FAFC"/>
                </a:solidFill>
              </a:defRPr>
            </a:pPr>
            <a:r>
              <a:t>1. Operating Window Constraints:</a:t>
            </a:r>
          </a:p>
          <a:p>
            <a:pPr>
              <a:spcAft>
                <a:spcPts val="400"/>
              </a:spcAft>
              <a:defRPr sz="1150">
                <a:solidFill>
                  <a:srgbClr val="94A3B8"/>
                </a:solidFill>
              </a:defRPr>
            </a:pPr>
            <a:r>
              <a:t>  • Every shift strictly respects resident [earliest_slot, latest_slot].</a:t>
            </a:r>
          </a:p>
          <a:p>
            <a:pPr>
              <a:spcAft>
                <a:spcPts val="400"/>
              </a:spcAft>
              <a:defRPr sz="1150">
                <a:solidFill>
                  <a:srgbClr val="94A3B8"/>
                </a:solidFill>
              </a:defRPr>
            </a:pPr>
            <a:r>
              <a:t>  • 0 constraint violations across registered devices.</a:t>
            </a:r>
          </a:p>
          <a:p>
            <a:pPr>
              <a:spcAft>
                <a:spcPts val="400"/>
              </a:spcAft>
              <a:defRPr sz="1150">
                <a:solidFill>
                  <a:srgbClr val="F8FAFC"/>
                </a:solidFill>
              </a:defRPr>
            </a:pPr>
            <a:r>
              <a:t>2. Exact Energy Conservation:</a:t>
            </a:r>
          </a:p>
          <a:p>
            <a:pPr>
              <a:spcAft>
                <a:spcPts val="400"/>
              </a:spcAft>
              <a:defRPr sz="1150">
                <a:solidFill>
                  <a:srgbClr val="94A3B8"/>
                </a:solidFill>
              </a:defRPr>
            </a:pPr>
            <a:r>
              <a:t>  • Energy removed from peak equals energy added to solar hours.</a:t>
            </a:r>
          </a:p>
          <a:p>
            <a:pPr>
              <a:spcAft>
                <a:spcPts val="400"/>
              </a:spcAft>
              <a:defRPr sz="1150">
                <a:solidFill>
                  <a:srgbClr val="94A3B8"/>
                </a:solidFill>
              </a:defRPr>
            </a:pPr>
            <a:r>
              <a:t>  • Net energy delta is mathematically zero (0.000000 kWh).</a:t>
            </a:r>
          </a:p>
          <a:p>
            <a:pPr>
              <a:spcAft>
                <a:spcPts val="400"/>
              </a:spcAft>
              <a:defRPr sz="1150">
                <a:solidFill>
                  <a:srgbClr val="F8FAFC"/>
                </a:solidFill>
              </a:defRPr>
            </a:pPr>
            <a:r>
              <a:t>3. Rebound Peak Protection:</a:t>
            </a:r>
          </a:p>
          <a:p>
            <a:pPr>
              <a:spcAft>
                <a:spcPts val="400"/>
              </a:spcAft>
              <a:defRPr sz="1150">
                <a:solidFill>
                  <a:srgbClr val="94A3B8"/>
                </a:solidFill>
              </a:defRPr>
            </a:pPr>
            <a:r>
              <a:t>  • Destination-block load checks prevent creating new midday peaks.</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F59E0B"/>
                </a:solidFill>
              </a:defRPr>
            </a:pPr>
            <a:r>
              <a:t>Primary Live Application Results (80 Households)</a:t>
            </a:r>
          </a:p>
          <a:p>
            <a:pPr>
              <a:spcAft>
                <a:spcPts val="400"/>
              </a:spcAft>
              <a:defRPr sz="1150">
                <a:solidFill>
                  <a:srgbClr val="F8FAFC"/>
                </a:solidFill>
              </a:defRPr>
            </a:pPr>
            <a:r>
              <a:t>Scope: Registered 80-household community (275 appliances).</a:t>
            </a:r>
          </a:p>
          <a:p>
            <a:pPr>
              <a:spcAft>
                <a:spcPts val="400"/>
              </a:spcAft>
              <a:defRPr sz="1150">
                <a:solidFill>
                  <a:srgbClr val="F8FAFC"/>
                </a:solidFill>
              </a:defRPr>
            </a:pPr>
            <a:r>
              <a:t>Baseline Evening Peak: ~196.00 kW (exceeds 170 kW rating).</a:t>
            </a:r>
          </a:p>
          <a:p>
            <a:pPr>
              <a:spcAft>
                <a:spcPts val="400"/>
              </a:spcAft>
              <a:defRPr sz="1150">
                <a:solidFill>
                  <a:srgbClr val="F8FAFC"/>
                </a:solidFill>
              </a:defRPr>
            </a:pPr>
            <a:r>
              <a:t>Stage 1 Optimized Peak: 155.50 kW.</a:t>
            </a:r>
          </a:p>
          <a:p>
            <a:pPr>
              <a:spcAft>
                <a:spcPts val="400"/>
              </a:spcAft>
              <a:defRPr sz="1150">
                <a:solidFill>
                  <a:srgbClr val="F8FAFC"/>
                </a:solidFill>
              </a:defRPr>
            </a:pPr>
            <a:r>
              <a:t>Peak Reduction: -40.50 kW (-20.7%).</a:t>
            </a:r>
          </a:p>
          <a:p>
            <a:pPr>
              <a:spcAft>
                <a:spcPts val="400"/>
              </a:spcAft>
              <a:defRPr sz="1150">
                <a:solidFill>
                  <a:srgbClr val="F8FAFC"/>
                </a:solidFill>
              </a:defRPr>
            </a:pPr>
            <a:r>
              <a:t>Scheduled Shifted Energy: 121.50 kWh across 27 scheduled shifts.</a:t>
            </a:r>
          </a:p>
          <a:p>
            <a:pPr>
              <a:spcAft>
                <a:spcPts val="400"/>
              </a:spcAft>
              <a:defRPr sz="1150">
                <a:solidFill>
                  <a:srgbClr val="F8FAFC"/>
                </a:solidFill>
              </a:defRPr>
            </a:pPr>
            <a:r>
              <a:t>Realized Shifted Energy: ~79.0 kWh modeled at 65% compliance.</a:t>
            </a:r>
          </a:p>
          <a:p>
            <a:pPr>
              <a:spcAft>
                <a:spcPts val="400"/>
              </a:spcAft>
              <a:defRPr sz="1150">
                <a:solidFill>
                  <a:srgbClr val="F8FAFC"/>
                </a:solidFill>
              </a:defRPr>
            </a:pPr>
            <a:r>
              <a:t>Remaining Overload: 0.00 kW (155.5 kW &lt;= 170 kW → Status: FEASIBLE).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Grid Reliability Assessment: Stage 2 Modeled Emergency Interventions</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06B6D4"/>
                </a:solidFill>
              </a:defRPr>
            </a:pPr>
            <a:r>
              <a:t>Modeled Interventions (Analytic Capacity Cap)</a:t>
            </a:r>
          </a:p>
          <a:p>
            <a:pPr>
              <a:spcAft>
                <a:spcPts val="400"/>
              </a:spcAft>
              <a:defRPr sz="1150">
                <a:solidFill>
                  <a:srgbClr val="F8FAFC"/>
                </a:solidFill>
              </a:defRPr>
            </a:pPr>
            <a:r>
              <a:t>Mathematical simulation of aggregate emergency curtailment.</a:t>
            </a:r>
          </a:p>
          <a:p>
            <a:pPr>
              <a:spcAft>
                <a:spcPts val="400"/>
              </a:spcAft>
              <a:defRPr sz="1150">
                <a:solidFill>
                  <a:srgbClr val="F8FAFC"/>
                </a:solidFill>
              </a:defRPr>
            </a:pPr>
            <a:r>
              <a:t>Models potential utility interventions: EV throttle &amp; thermostat adjustments.</a:t>
            </a:r>
          </a:p>
          <a:p>
            <a:pPr>
              <a:spcAft>
                <a:spcPts val="400"/>
              </a:spcAft>
              <a:defRPr sz="1150">
                <a:solidFill>
                  <a:srgbClr val="F8FAFC"/>
                </a:solidFill>
              </a:defRPr>
            </a:pPr>
            <a:r>
              <a:t>Modeled maximum curtailment parameter: 120.0 kW.</a:t>
            </a:r>
          </a:p>
          <a:p>
            <a:pPr>
              <a:spcAft>
                <a:spcPts val="400"/>
              </a:spcAft>
              <a:defRPr sz="1150">
                <a:solidFill>
                  <a:srgbClr val="F8FAFC"/>
                </a:solidFill>
              </a:defRPr>
            </a:pPr>
            <a:r>
              <a:t>Evaluates grid feasibility limits when voluntary shifting is insufficient.</a:t>
            </a:r>
          </a:p>
          <a:p>
            <a:pPr>
              <a:spcAft>
                <a:spcPts val="400"/>
              </a:spcAft>
              <a:defRPr sz="1150">
                <a:solidFill>
                  <a:srgbClr val="F8FAFC"/>
                </a:solidFill>
              </a:defRPr>
            </a:pPr>
            <a:r>
              <a:t>Clear Boundary: An analytic simulation, not physical hardware control.</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F59E0B"/>
                </a:solidFill>
              </a:defRPr>
            </a:pPr>
            <a:r>
              <a:t>Extreme Heatwave Stress-Test Findings</a:t>
            </a:r>
          </a:p>
          <a:p>
            <a:pPr>
              <a:spcAft>
                <a:spcPts val="400"/>
              </a:spcAft>
              <a:defRPr sz="1150">
                <a:solidFill>
                  <a:srgbClr val="F8FAFC"/>
                </a:solidFill>
              </a:defRPr>
            </a:pPr>
            <a:r>
              <a:t>Context: High-stress feeder profile under extreme 42°C heatwave.</a:t>
            </a:r>
          </a:p>
          <a:p>
            <a:pPr>
              <a:spcAft>
                <a:spcPts val="400"/>
              </a:spcAft>
              <a:defRPr sz="1150">
                <a:solidFill>
                  <a:srgbClr val="F8FAFC"/>
                </a:solidFill>
              </a:defRPr>
            </a:pPr>
            <a:r>
              <a:t>Baseline Peak: 388.91 kW → Stage 1 Peak: 302.52 kW.</a:t>
            </a:r>
          </a:p>
          <a:p>
            <a:pPr>
              <a:spcAft>
                <a:spcPts val="400"/>
              </a:spcAft>
              <a:defRPr sz="1150">
                <a:solidFill>
                  <a:srgbClr val="F8FAFC"/>
                </a:solidFill>
              </a:defRPr>
            </a:pPr>
            <a:r>
              <a:t>Overload Remaining Above 170 kW: 132.52 kW.</a:t>
            </a:r>
          </a:p>
          <a:p>
            <a:pPr>
              <a:spcAft>
                <a:spcPts val="400"/>
              </a:spcAft>
              <a:defRPr sz="1150">
                <a:solidFill>
                  <a:srgbClr val="F8FAFC"/>
                </a:solidFill>
              </a:defRPr>
            </a:pPr>
            <a:r>
              <a:t>Maximum Modeled Emergency Curtailment: 120.00 kW.</a:t>
            </a:r>
          </a:p>
          <a:p>
            <a:pPr>
              <a:spcAft>
                <a:spcPts val="400"/>
              </a:spcAft>
              <a:defRPr sz="1150">
                <a:solidFill>
                  <a:srgbClr val="F8FAFC"/>
                </a:solidFill>
              </a:defRPr>
            </a:pPr>
            <a:r>
              <a:t>Simulated Peak after Stage 2: 182.52 kW.</a:t>
            </a:r>
          </a:p>
          <a:p>
            <a:pPr>
              <a:spcAft>
                <a:spcPts val="400"/>
              </a:spcAft>
              <a:defRPr sz="1150">
                <a:solidFill>
                  <a:srgbClr val="F8FAFC"/>
                </a:solidFill>
              </a:defRPr>
            </a:pPr>
            <a:r>
              <a:t>Residual Overload: 12.52 kW across 3 peak intervals.</a:t>
            </a:r>
          </a:p>
          <a:p>
            <a:pPr>
              <a:spcAft>
                <a:spcPts val="400"/>
              </a:spcAft>
              <a:defRPr sz="1150">
                <a:solidFill>
                  <a:srgbClr val="F8FAFC"/>
                </a:solidFill>
              </a:defRPr>
            </a:pPr>
            <a:r>
              <a:t>Key Insight: Transparently exposes physical deficits where voluntary shifting and modeled reserves cannot fully eliminate overload.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Resident Engagement: Multi-Lingual Nudges &amp; ToD Economics</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10B981"/>
                </a:solidFill>
              </a:defRPr>
            </a:pPr>
            <a:r>
              <a:t>Personalized Multi-Lingual Nudges</a:t>
            </a:r>
          </a:p>
          <a:p>
            <a:pPr>
              <a:spcAft>
                <a:spcPts val="400"/>
              </a:spcAft>
              <a:defRPr sz="1150">
                <a:solidFill>
                  <a:srgbClr val="F8FAFC"/>
                </a:solidFill>
              </a:defRPr>
            </a:pPr>
            <a:r>
              <a:t>Natively supports English, Hindi, and Telugu.</a:t>
            </a:r>
          </a:p>
          <a:p>
            <a:pPr>
              <a:spcAft>
                <a:spcPts val="400"/>
              </a:spcAft>
              <a:defRPr sz="1150">
                <a:solidFill>
                  <a:srgbClr val="F8FAFC"/>
                </a:solidFill>
              </a:defRPr>
            </a:pPr>
            <a:r>
              <a:t>Deterministic templates tailored to resident language preference.</a:t>
            </a:r>
          </a:p>
          <a:p>
            <a:pPr>
              <a:spcAft>
                <a:spcPts val="400"/>
              </a:spcAft>
              <a:defRPr sz="1150">
                <a:solidFill>
                  <a:srgbClr val="F8FAFC"/>
                </a:solidFill>
              </a:defRPr>
            </a:pPr>
            <a:r>
              <a:t>Device-specific guidance: Washing machine, Geyser, Water pump, EV.</a:t>
            </a:r>
          </a:p>
          <a:p>
            <a:pPr>
              <a:spcAft>
                <a:spcPts val="400"/>
              </a:spcAft>
              <a:defRPr sz="1150">
                <a:solidFill>
                  <a:srgbClr val="F8FAFC"/>
                </a:solidFill>
              </a:defRPr>
            </a:pPr>
            <a:r>
              <a:t>Actionable messaging: 'Shift cycle to 13:00 to utilize solar generation.'</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F59E0B"/>
                </a:solidFill>
              </a:defRPr>
            </a:pPr>
            <a:r>
              <a:t>Time-of-Day Tariff Differential Savings</a:t>
            </a:r>
          </a:p>
          <a:p>
            <a:pPr>
              <a:spcAft>
                <a:spcPts val="400"/>
              </a:spcAft>
              <a:defRPr sz="1150">
                <a:solidFill>
                  <a:srgbClr val="F8FAFC"/>
                </a:solidFill>
              </a:defRPr>
            </a:pPr>
            <a:r>
              <a:t>Modeled Indian DISCOM Time-of-Day Tariff Structure:</a:t>
            </a:r>
          </a:p>
          <a:p>
            <a:pPr>
              <a:spcAft>
                <a:spcPts val="400"/>
              </a:spcAft>
              <a:defRPr sz="1150">
                <a:solidFill>
                  <a:srgbClr val="94A3B8"/>
                </a:solidFill>
              </a:defRPr>
            </a:pPr>
            <a:r>
              <a:t>  • Peak Tariff (18:00–22:00): Rs 9.00 / kWh.</a:t>
            </a:r>
          </a:p>
          <a:p>
            <a:pPr>
              <a:spcAft>
                <a:spcPts val="400"/>
              </a:spcAft>
              <a:defRPr sz="1150">
                <a:solidFill>
                  <a:srgbClr val="94A3B8"/>
                </a:solidFill>
              </a:defRPr>
            </a:pPr>
            <a:r>
              <a:t>  • Solar Off-Peak Tariff (10:00–16:00): Rs 6.00 / kWh.</a:t>
            </a:r>
          </a:p>
          <a:p>
            <a:pPr>
              <a:spcAft>
                <a:spcPts val="400"/>
              </a:spcAft>
              <a:defRPr sz="1150">
                <a:solidFill>
                  <a:srgbClr val="94A3B8"/>
                </a:solidFill>
              </a:defRPr>
            </a:pPr>
            <a:r>
              <a:t>  • Tariff Differential: Rs 3.00 / kWh.</a:t>
            </a:r>
          </a:p>
          <a:p>
            <a:pPr>
              <a:spcAft>
                <a:spcPts val="400"/>
              </a:spcAft>
              <a:defRPr sz="1150">
                <a:solidFill>
                  <a:srgbClr val="F8FAFC"/>
                </a:solidFill>
              </a:defRPr>
            </a:pPr>
            <a:r>
              <a:t>Formula: Estimated Bill Savings = Shifted kWh × Rs 3.00 / kWh.</a:t>
            </a:r>
          </a:p>
          <a:p>
            <a:pPr>
              <a:spcAft>
                <a:spcPts val="400"/>
              </a:spcAft>
              <a:defRPr sz="1150">
                <a:solidFill>
                  <a:srgbClr val="F8FAFC"/>
                </a:solidFill>
              </a:defRPr>
            </a:pPr>
            <a:r>
              <a:t>Gamified Points: 10 points awarded per shifted kWh.</a:t>
            </a:r>
          </a:p>
          <a:p>
            <a:pPr>
              <a:spcAft>
                <a:spcPts val="400"/>
              </a:spcAft>
              <a:defRPr sz="1150">
                <a:solidFill>
                  <a:srgbClr val="F8FAFC"/>
                </a:solidFill>
              </a:defRPr>
            </a:pPr>
            <a:r>
              <a:t>Clarification: Estimated savings under modeled tariff, not cash guarantees.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Dataset Provenance: Clear Separation of Experimental Configurations</a:t>
            </a:r>
          </a:p>
        </p:txBody>
      </p:sp>
      <p:sp>
        <p:nvSpPr>
          <p:cNvPr id="5" name="Rounded Rectangle 4"/>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023360"/>
          </a:xfrm>
          <a:prstGeom prst="rect">
            <a:avLst/>
          </a:prstGeom>
          <a:noFill/>
        </p:spPr>
        <p:txBody>
          <a:bodyPr wrap="square">
            <a:spAutoFit/>
          </a:bodyPr>
          <a:lstStyle/>
          <a:p>
            <a:pPr>
              <a:spcAft>
                <a:spcPts val="800"/>
              </a:spcAft>
              <a:defRPr sz="1600" b="1">
                <a:solidFill>
                  <a:srgbClr val="10B981"/>
                </a:solidFill>
              </a:defRPr>
            </a:pPr>
            <a:r>
              <a:t>1. Live Web Application</a:t>
            </a:r>
          </a:p>
          <a:p>
            <a:pPr>
              <a:spcAft>
                <a:spcPts val="400"/>
              </a:spcAft>
              <a:defRPr sz="1150">
                <a:solidFill>
                  <a:srgbClr val="F8FAFC"/>
                </a:solidFill>
              </a:defRPr>
            </a:pPr>
            <a:r>
              <a:t>Database: data/powerpool.db (primary live demo).</a:t>
            </a:r>
          </a:p>
          <a:p>
            <a:pPr>
              <a:spcAft>
                <a:spcPts val="400"/>
              </a:spcAft>
              <a:defRPr sz="1150">
                <a:solidFill>
                  <a:srgbClr val="F8FAFC"/>
                </a:solidFill>
              </a:defRPr>
            </a:pPr>
            <a:r>
              <a:t>Scale: 80 Households, 275 Appliances.</a:t>
            </a:r>
          </a:p>
          <a:p>
            <a:pPr>
              <a:spcAft>
                <a:spcPts val="400"/>
              </a:spcAft>
              <a:defRPr sz="1150">
                <a:solidFill>
                  <a:srgbClr val="F8FAFC"/>
                </a:solidFill>
              </a:defRPr>
            </a:pPr>
            <a:r>
              <a:t>Baseline Peak: ~196.00 kW → Stage 1: 155.50 kW (-20.7%).</a:t>
            </a:r>
          </a:p>
          <a:p>
            <a:pPr>
              <a:spcAft>
                <a:spcPts val="400"/>
              </a:spcAft>
              <a:defRPr sz="1150">
                <a:solidFill>
                  <a:srgbClr val="F8FAFC"/>
                </a:solidFill>
              </a:defRPr>
            </a:pPr>
            <a:r>
              <a:t>Energy: 121.50 kWh scheduled / ~79.0 kWh realized (65% comp).</a:t>
            </a:r>
          </a:p>
          <a:p>
            <a:pPr>
              <a:spcAft>
                <a:spcPts val="400"/>
              </a:spcAft>
              <a:defRPr sz="1150">
                <a:solidFill>
                  <a:srgbClr val="F8FAFC"/>
                </a:solidFill>
              </a:defRPr>
            </a:pPr>
            <a:r>
              <a:t>Remaining Overload: 0.00 kW (FEASIBLE).</a:t>
            </a:r>
          </a:p>
        </p:txBody>
      </p:sp>
      <p:sp>
        <p:nvSpPr>
          <p:cNvPr id="7" name="Rounded Rectangle 6"/>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023360"/>
          </a:xfrm>
          <a:prstGeom prst="rect">
            <a:avLst/>
          </a:prstGeom>
          <a:noFill/>
        </p:spPr>
        <p:txBody>
          <a:bodyPr wrap="square">
            <a:spAutoFit/>
          </a:bodyPr>
          <a:lstStyle/>
          <a:p>
            <a:pPr>
              <a:spcAft>
                <a:spcPts val="800"/>
              </a:spcAft>
              <a:defRPr sz="1600" b="1">
                <a:solidFill>
                  <a:srgbClr val="06B6D4"/>
                </a:solidFill>
              </a:defRPr>
            </a:pPr>
            <a:r>
              <a:t>2. High-Stress Feeder Profile</a:t>
            </a:r>
          </a:p>
          <a:p>
            <a:pPr>
              <a:spcAft>
                <a:spcPts val="400"/>
              </a:spcAft>
              <a:defRPr sz="1150">
                <a:solidFill>
                  <a:srgbClr val="F8FAFC"/>
                </a:solidFill>
              </a:defRPr>
            </a:pPr>
            <a:r>
              <a:t>Dataset: 100-HH load_history (288k rows) &amp; generator.</a:t>
            </a:r>
          </a:p>
          <a:p>
            <a:pPr>
              <a:spcAft>
                <a:spcPts val="400"/>
              </a:spcAft>
              <a:defRPr sz="1150">
                <a:solidFill>
                  <a:srgbClr val="F8FAFC"/>
                </a:solidFill>
              </a:defRPr>
            </a:pPr>
            <a:r>
              <a:t>Scale: 100 Households, 597 appliances (148 flexible).</a:t>
            </a:r>
          </a:p>
          <a:p>
            <a:pPr>
              <a:spcAft>
                <a:spcPts val="400"/>
              </a:spcAft>
              <a:defRPr sz="1150">
                <a:solidFill>
                  <a:srgbClr val="F8FAFC"/>
                </a:solidFill>
              </a:defRPr>
            </a:pPr>
            <a:r>
              <a:t>Sunny: 121.50 kWh scheduled / 78.97 kWh realized (65% comp).</a:t>
            </a:r>
          </a:p>
          <a:p>
            <a:pPr>
              <a:spcAft>
                <a:spcPts val="400"/>
              </a:spcAft>
              <a:defRPr sz="1150">
                <a:solidFill>
                  <a:srgbClr val="F8FAFC"/>
                </a:solidFill>
              </a:defRPr>
            </a:pPr>
            <a:r>
              <a:t>Cloudy: 416.25 kWh scheduled / 270.56 kWh realized (65% comp).</a:t>
            </a:r>
          </a:p>
          <a:p>
            <a:pPr>
              <a:spcAft>
                <a:spcPts val="400"/>
              </a:spcAft>
              <a:defRPr sz="1150">
                <a:solidFill>
                  <a:srgbClr val="F8FAFC"/>
                </a:solidFill>
              </a:defRPr>
            </a:pPr>
            <a:r>
              <a:t>Heatwave: 425.75 kWh scheduled / 276.74 kWh realized (65% comp).</a:t>
            </a:r>
          </a:p>
          <a:p>
            <a:pPr>
              <a:spcAft>
                <a:spcPts val="400"/>
              </a:spcAft>
              <a:defRPr sz="1150">
                <a:solidFill>
                  <a:srgbClr val="F8FAFC"/>
                </a:solidFill>
              </a:defRPr>
            </a:pPr>
            <a:r>
              <a:t>Baseline Peaks: 340.32 kW (Sunny) / 388.91 kW (Heatwave).</a:t>
            </a:r>
          </a:p>
        </p:txBody>
      </p:sp>
      <p:sp>
        <p:nvSpPr>
          <p:cNvPr id="9" name="Rounded Rectangle 8"/>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2926080" cy="4023360"/>
          </a:xfrm>
          <a:prstGeom prst="rect">
            <a:avLst/>
          </a:prstGeom>
          <a:noFill/>
        </p:spPr>
        <p:txBody>
          <a:bodyPr wrap="square">
            <a:spAutoFit/>
          </a:bodyPr>
          <a:lstStyle/>
          <a:p>
            <a:pPr>
              <a:spcAft>
                <a:spcPts val="800"/>
              </a:spcAft>
              <a:defRPr sz="1600" b="1">
                <a:solidFill>
                  <a:srgbClr val="F59E0B"/>
                </a:solidFill>
              </a:defRPr>
            </a:pPr>
            <a:r>
              <a:t>3. Standalone CLI Demo Runner</a:t>
            </a:r>
          </a:p>
          <a:p>
            <a:pPr>
              <a:spcAft>
                <a:spcPts val="400"/>
              </a:spcAft>
              <a:defRPr sz="1150">
                <a:solidFill>
                  <a:srgbClr val="F8FAFC"/>
                </a:solidFill>
              </a:defRPr>
            </a:pPr>
            <a:r>
              <a:t>Script: scripts/run_demo.py &amp; isolated demo database.</a:t>
            </a:r>
          </a:p>
          <a:p>
            <a:pPr>
              <a:spcAft>
                <a:spcPts val="400"/>
              </a:spcAft>
              <a:defRPr sz="1150">
                <a:solidFill>
                  <a:srgbClr val="F8FAFC"/>
                </a:solidFill>
              </a:defRPr>
            </a:pPr>
            <a:r>
              <a:t>Scale: 100 synthetic Households, 345 appliances.</a:t>
            </a:r>
          </a:p>
          <a:p>
            <a:pPr>
              <a:spcAft>
                <a:spcPts val="400"/>
              </a:spcAft>
              <a:defRPr sz="1150">
                <a:solidFill>
                  <a:srgbClr val="F8FAFC"/>
                </a:solidFill>
              </a:defRPr>
            </a:pPr>
            <a:r>
              <a:t>Baseline Peak: 340.32 kW → Stage 1: 258.89 kW (-23.9%).</a:t>
            </a:r>
          </a:p>
          <a:p>
            <a:pPr>
              <a:spcAft>
                <a:spcPts val="400"/>
              </a:spcAft>
              <a:defRPr sz="1150">
                <a:solidFill>
                  <a:srgbClr val="F8FAFC"/>
                </a:solidFill>
              </a:defRPr>
            </a:pPr>
            <a:r>
              <a:t>Energy: 345.75 kWh scheduled.</a:t>
            </a:r>
          </a:p>
          <a:p>
            <a:pPr>
              <a:spcAft>
                <a:spcPts val="400"/>
              </a:spcAft>
              <a:defRPr sz="1150">
                <a:solidFill>
                  <a:srgbClr val="F8FAFC"/>
                </a:solidFill>
              </a:defRPr>
            </a:pPr>
            <a:r>
              <a:t>Remaining Overload: 88.89 kW (PARTIAL RELIEF).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Engineering Rigor: Automated Testing &amp; Database Integrity</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10B981"/>
                </a:solidFill>
              </a:defRPr>
            </a:pPr>
            <a:r>
              <a:t>Automated Test Suite (197 / 197 Passed)</a:t>
            </a:r>
          </a:p>
          <a:p>
            <a:pPr>
              <a:spcAft>
                <a:spcPts val="400"/>
              </a:spcAft>
              <a:defRPr sz="1150">
                <a:solidFill>
                  <a:srgbClr val="F8FAFC"/>
                </a:solidFill>
              </a:defRPr>
            </a:pPr>
            <a:r>
              <a:t>Executed in 35.07 seconds with zero failures.</a:t>
            </a:r>
          </a:p>
          <a:p>
            <a:pPr>
              <a:spcAft>
                <a:spcPts val="400"/>
              </a:spcAft>
              <a:defRPr sz="1150">
                <a:solidFill>
                  <a:srgbClr val="F8FAFC"/>
                </a:solidFill>
              </a:defRPr>
            </a:pPr>
            <a:r>
              <a:t>Verified Test Coverage:</a:t>
            </a:r>
          </a:p>
          <a:p>
            <a:pPr>
              <a:spcAft>
                <a:spcPts val="400"/>
              </a:spcAft>
              <a:defRPr sz="1150">
                <a:solidFill>
                  <a:srgbClr val="94A3B8"/>
                </a:solidFill>
              </a:defRPr>
            </a:pPr>
            <a:r>
              <a:t>  • ML model loading &amp; 13-feature pipeline integrity.</a:t>
            </a:r>
          </a:p>
          <a:p>
            <a:pPr>
              <a:spcAft>
                <a:spcPts val="400"/>
              </a:spcAft>
              <a:defRPr sz="1150">
                <a:solidFill>
                  <a:srgbClr val="94A3B8"/>
                </a:solidFill>
              </a:defRPr>
            </a:pPr>
            <a:r>
              <a:t>  • Appliance operating window constraint validation.</a:t>
            </a:r>
          </a:p>
          <a:p>
            <a:pPr>
              <a:spcAft>
                <a:spcPts val="400"/>
              </a:spcAft>
              <a:defRPr sz="1150">
                <a:solidFill>
                  <a:srgbClr val="94A3B8"/>
                </a:solidFill>
              </a:defRPr>
            </a:pPr>
            <a:r>
              <a:t>  • Mathematical energy conservation tests.</a:t>
            </a:r>
          </a:p>
          <a:p>
            <a:pPr>
              <a:spcAft>
                <a:spcPts val="400"/>
              </a:spcAft>
              <a:defRPr sz="1150">
                <a:solidFill>
                  <a:srgbClr val="94A3B8"/>
                </a:solidFill>
              </a:defRPr>
            </a:pPr>
            <a:r>
              <a:t>  • Rebound-peak prevention in destination blocks.</a:t>
            </a:r>
          </a:p>
          <a:p>
            <a:pPr>
              <a:spcAft>
                <a:spcPts val="400"/>
              </a:spcAft>
              <a:defRPr sz="1150">
                <a:solidFill>
                  <a:srgbClr val="94A3B8"/>
                </a:solidFill>
              </a:defRPr>
            </a:pPr>
            <a:r>
              <a:t>  • Multi-lingual translation consistency (en/hi/te).</a:t>
            </a:r>
          </a:p>
          <a:p>
            <a:pPr>
              <a:spcAft>
                <a:spcPts val="400"/>
              </a:spcAft>
              <a:defRPr sz="1150">
                <a:solidFill>
                  <a:srgbClr val="94A3B8"/>
                </a:solidFill>
              </a:defRPr>
            </a:pPr>
            <a:r>
              <a:t>  • API contract compatibility &amp; scenario propagation.</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06B6D4"/>
                </a:solidFill>
              </a:defRPr>
            </a:pPr>
            <a:r>
              <a:t>Production Database Safety &amp; Integrity</a:t>
            </a:r>
          </a:p>
          <a:p>
            <a:pPr>
              <a:spcAft>
                <a:spcPts val="400"/>
              </a:spcAft>
              <a:defRPr sz="1150">
                <a:solidFill>
                  <a:srgbClr val="F8FAFC"/>
                </a:solidFill>
              </a:defRPr>
            </a:pPr>
            <a:r>
              <a:t>Database File: data/powerpool.db (37,224,448 bytes).</a:t>
            </a:r>
          </a:p>
          <a:p>
            <a:pPr>
              <a:spcAft>
                <a:spcPts val="400"/>
              </a:spcAft>
              <a:defRPr sz="1150">
                <a:solidFill>
                  <a:srgbClr val="F8FAFC"/>
                </a:solidFill>
              </a:defRPr>
            </a:pPr>
            <a:r>
              <a:t>Verified Unchanged during Audit: SHA256 1A352F8813CBA41C...</a:t>
            </a:r>
          </a:p>
          <a:p>
            <a:pPr>
              <a:spcAft>
                <a:spcPts val="400"/>
              </a:spcAft>
              <a:defRPr sz="1150">
                <a:solidFill>
                  <a:srgbClr val="F8FAFC"/>
                </a:solidFill>
              </a:defRPr>
            </a:pPr>
            <a:r>
              <a:t>SQLite PRAGMA integrity_check = ok | Foreign keys: 0 violations.</a:t>
            </a:r>
          </a:p>
          <a:p>
            <a:pPr>
              <a:spcAft>
                <a:spcPts val="400"/>
              </a:spcAft>
              <a:defRPr sz="1150">
                <a:solidFill>
                  <a:srgbClr val="F8FAFC"/>
                </a:solidFill>
              </a:defRPr>
            </a:pPr>
            <a:r>
              <a:t>Row Counts Preserved: load_history (288,000), weather (2,880), appliances (275), households (80), forecast (96).</a:t>
            </a:r>
          </a:p>
          <a:p>
            <a:pPr>
              <a:spcAft>
                <a:spcPts val="400"/>
              </a:spcAft>
              <a:defRPr sz="1150">
                <a:solidFill>
                  <a:srgbClr val="F8FAFC"/>
                </a:solidFill>
              </a:defRPr>
            </a:pPr>
            <a:r>
              <a:t>Isolated test fixtures prevented production database mutations.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06B6D4"/>
                </a:solidFill>
              </a:defRPr>
            </a:pPr>
            <a:r>
              <a:t>POWERPOOL • YUVA YODHA HACKATHON 2026</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8FAFC"/>
                </a:solidFill>
              </a:defRPr>
            </a:pPr>
            <a:r>
              <a:t>Conclusion &amp; Real-World Deployment Roadmap</a:t>
            </a:r>
          </a:p>
        </p:txBody>
      </p:sp>
      <p:sp>
        <p:nvSpPr>
          <p:cNvPr id="5" name="Rounded Rectangle 4"/>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800"/>
              </a:spcAft>
              <a:defRPr sz="1600" b="1">
                <a:solidFill>
                  <a:srgbClr val="10B981"/>
                </a:solidFill>
              </a:defRPr>
            </a:pPr>
            <a:r>
              <a:t>Current Status: Tested Prototype for Demonstration</a:t>
            </a:r>
          </a:p>
          <a:p>
            <a:pPr>
              <a:spcAft>
                <a:spcPts val="400"/>
              </a:spcAft>
              <a:defRPr sz="1150">
                <a:solidFill>
                  <a:srgbClr val="F8FAFC"/>
                </a:solidFill>
              </a:defRPr>
            </a:pPr>
            <a:r>
              <a:t>Demonstrated End-to-End Capabilities:</a:t>
            </a:r>
          </a:p>
          <a:p>
            <a:pPr>
              <a:spcAft>
                <a:spcPts val="400"/>
              </a:spcAft>
              <a:defRPr sz="1150">
                <a:solidFill>
                  <a:srgbClr val="94A3B8"/>
                </a:solidFill>
              </a:defRPr>
            </a:pPr>
            <a:r>
              <a:t>  • Recursive day-ahead LightGBM forecasting (~14.8% error reduction).</a:t>
            </a:r>
          </a:p>
          <a:p>
            <a:pPr>
              <a:spcAft>
                <a:spcPts val="400"/>
              </a:spcAft>
              <a:defRPr sz="1150">
                <a:solidFill>
                  <a:srgbClr val="94A3B8"/>
                </a:solidFill>
              </a:defRPr>
            </a:pPr>
            <a:r>
              <a:t>  • Capacity-aware optimization shaving 20.7% peak demand.</a:t>
            </a:r>
          </a:p>
          <a:p>
            <a:pPr>
              <a:spcAft>
                <a:spcPts val="400"/>
              </a:spcAft>
              <a:defRPr sz="1150">
                <a:solidFill>
                  <a:srgbClr val="94A3B8"/>
                </a:solidFill>
              </a:defRPr>
            </a:pPr>
            <a:r>
              <a:t>  • Honest feasibility reporting and residual overload diagnostics.</a:t>
            </a:r>
          </a:p>
          <a:p>
            <a:pPr>
              <a:spcAft>
                <a:spcPts val="400"/>
              </a:spcAft>
              <a:defRPr sz="1150">
                <a:solidFill>
                  <a:srgbClr val="94A3B8"/>
                </a:solidFill>
              </a:defRPr>
            </a:pPr>
            <a:r>
              <a:t>  • Multi-lingual civic engagement with ToD tariff savings.</a:t>
            </a:r>
          </a:p>
          <a:p>
            <a:pPr>
              <a:spcAft>
                <a:spcPts val="400"/>
              </a:spcAft>
              <a:defRPr sz="1150">
                <a:solidFill>
                  <a:srgbClr val="94A3B8"/>
                </a:solidFill>
              </a:defRPr>
            </a:pPr>
            <a:r>
              <a:t>  • Tested prototype ready for live hackathon demonstration.</a:t>
            </a:r>
          </a:p>
        </p:txBody>
      </p:sp>
      <p:sp>
        <p:nvSpPr>
          <p:cNvPr id="7" name="Rounded Rectangle 6"/>
          <p:cNvSpPr/>
          <p:nvPr/>
        </p:nvSpPr>
        <p:spPr>
          <a:xfrm>
            <a:off x="62179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800"/>
              </a:spcAft>
              <a:defRPr sz="1600" b="1">
                <a:solidFill>
                  <a:srgbClr val="06B6D4"/>
                </a:solidFill>
              </a:defRPr>
            </a:pPr>
            <a:r>
              <a:t>Roadmap for Real-World Utility Deployment</a:t>
            </a:r>
          </a:p>
          <a:p>
            <a:pPr>
              <a:spcAft>
                <a:spcPts val="400"/>
              </a:spcAft>
              <a:defRPr sz="1150">
                <a:solidFill>
                  <a:srgbClr val="F8FAFC"/>
                </a:solidFill>
              </a:defRPr>
            </a:pPr>
            <a:r>
              <a:t>1. Automated Load Disaggregation: Non-Intrusive Load Monitoring (NILM) on AMI smart meter data.</a:t>
            </a:r>
          </a:p>
          <a:p>
            <a:pPr>
              <a:spcAft>
                <a:spcPts val="400"/>
              </a:spcAft>
              <a:defRPr sz="1150">
                <a:solidFill>
                  <a:srgbClr val="F8FAFC"/>
                </a:solidFill>
              </a:defRPr>
            </a:pPr>
            <a:r>
              <a:t>2. Protocol Integration: OpenADR 2.0b Virtual End Node (VEN) client.</a:t>
            </a:r>
          </a:p>
          <a:p>
            <a:pPr>
              <a:spcAft>
                <a:spcPts val="400"/>
              </a:spcAft>
              <a:defRPr sz="1150">
                <a:solidFill>
                  <a:srgbClr val="F8FAFC"/>
                </a:solidFill>
              </a:defRPr>
            </a:pPr>
            <a:r>
              <a:t>3. Smart EVSE Control: OCPI protocol adapters for direct charging rate modulation.</a:t>
            </a:r>
          </a:p>
          <a:p>
            <a:pPr>
              <a:spcAft>
                <a:spcPts val="400"/>
              </a:spcAft>
              <a:defRPr sz="1150">
                <a:solidFill>
                  <a:srgbClr val="F8FAFC"/>
                </a:solidFill>
              </a:defRPr>
            </a:pPr>
            <a:r>
              <a:t>4. Dynamic Behavioral Compliance: Weather and incentive-sensitive adoption models.</a:t>
            </a:r>
          </a:p>
          <a:p>
            <a:pPr>
              <a:spcAft>
                <a:spcPts val="400"/>
              </a:spcAft>
              <a:defRPr sz="1150">
                <a:solidFill>
                  <a:srgbClr val="F8FAFC"/>
                </a:solidFill>
              </a:defRPr>
            </a:pPr>
            <a:r>
              <a:t>5. Utility SCADA Interfacing: Direct ingestion of substation telemetry.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